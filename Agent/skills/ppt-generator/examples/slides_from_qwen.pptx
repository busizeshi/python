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讲稿备注：开场直击管理层最关注的三个指标：响应效率、客户留存、人力ROI。强调这不是技术选型问题，而是业务可持续性问题。</a:t>
            </a:r>
          </a:p>
          <a:p>
            <a:r>
              <a:t>视觉建议：双轴图表：左轴为客服人力成本年增长率（柱状），右轴为咨询量年增长率（折线），叠加客户流失率红点警示标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讲稿备注：强调‘增强智能’（Augmented Intelligence）而非‘人工智能’（Artificial Intelligence）——所有能力设计均以提升坐席产能和决策质量为前提。</a:t>
            </a:r>
          </a:p>
          <a:p>
            <a:r>
              <a:t>视觉建议：同心圆图：中心为‘坐席’，外环三模块‘AI实时辅助’‘智能工单分派’‘情绪预警联动’，箭头双向循环表示协同增益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讲稿备注：避免谈算法细节，聚焦每层解决的具体业务动作——让技术语言转化为管理层熟悉的‘动作-结果’链条。</a:t>
            </a:r>
          </a:p>
          <a:p>
            <a:r>
              <a:t>视觉建议：垂直分层架构图（L1/L2/L3），每层配对应图标+1个真实业务动词（如‘自动退款’‘实时预警’‘生成报告’）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讲稿备注：所有数据标注来源（内部试点/第三方审计），强调‘非实验室数据’。重点解读‘重复来电率’——这是客户不满最真实的滞后指标。</a:t>
            </a:r>
          </a:p>
          <a:p>
            <a:r>
              <a:t>视觉建议：三组对比卡片式设计，每张含指标名称、改善幅度、图标（↑↓）、小字标注数据周期与样本量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讲稿备注：明确区分‘可量化收益’与‘战略收益’（如品牌声誉）。强调成本不含硬件——全部基于现有云环境部署，降低决策风险。</a:t>
            </a:r>
          </a:p>
          <a:p>
            <a:r>
              <a:t>视觉建议：现金流量时间轴图：X轴为月度，Y轴为累计现金流，标出盈亏平衡点（13.2个月）及第24个月累计净收益值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讲稿备注：强调Phase 1即可在30天内看到响应时长下降——给管理层‘早期胜利’（Early Win）信号，增强后续投入信心。</a:t>
            </a:r>
          </a:p>
          <a:p>
            <a:r>
              <a:t>视觉建议：甘特图形式时间轴，三阶段色块标注关键交付物与验收标准（如‘Phase 1交付：FAQ覆盖率≥95%，准确率≥90%’）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讲稿备注：用‘决策’替代‘建议’，三项均为具体、可执行、有明确责任人的动作。预算金额精确到千位，体现专业性。</a:t>
            </a:r>
          </a:p>
          <a:p>
            <a:r>
              <a:t>视觉建议：三枚金色决策徽章图标，分别标注‘预算批准’‘组织授权’‘业务牵头’，底部加粗显示‘Q3启动，Q4见效’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讲稿备注：不回避敏感问题。每个回答包含‘技术保障’+‘管理机制’双维度，体现系统性思考。</a:t>
            </a:r>
          </a:p>
          <a:p>
            <a:r>
              <a:t>视觉建议：三栏问答布局，每栏顶部用问号图标+关键词（兼容性/员工接受度/安全性），答案采用‘结论先行+支撑要点’短句结构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AI客服提效方案：降本、增效、升体验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面向管理层的可行性落地路径与ROI分析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为什么现在必须升级AI客服？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目标：建立紧迫感，用数据锚定管理痛点</a:t>
            </a:r>
          </a:p>
          <a:p>
            <a:pPr lvl="1">
              <a:defRPr sz="1600"/>
            </a:pPr>
            <a:r>
              <a:t>当前人工客服平均响应时长超210秒，首解率仅68%；</a:t>
            </a:r>
          </a:p>
          <a:p>
            <a:pPr lvl="1">
              <a:defRPr sz="1600"/>
            </a:pPr>
            <a:r>
              <a:t>43%客户因等待超90秒直接流失（2024 CX Benchmark）；</a:t>
            </a:r>
          </a:p>
          <a:p>
            <a:pPr lvl="1">
              <a:defRPr sz="1600"/>
            </a:pPr>
            <a:r>
              <a:t>人力成本年增12%，而客服咨询量年增27%，供需缺口持续扩大。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AI客服不是替代人，而是赋能人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目标：消除管理层对‘裁员’的顾虑，重构人机协同价值模型</a:t>
            </a:r>
          </a:p>
          <a:p>
            <a:pPr lvl="1">
              <a:defRPr sz="1600"/>
            </a:pPr>
            <a:r>
              <a:t>AI处理75%标准化咨询（查单、退换、余额等），释放人力专注高价值场景；</a:t>
            </a:r>
          </a:p>
          <a:p>
            <a:pPr lvl="1">
              <a:defRPr sz="1600"/>
            </a:pPr>
            <a:r>
              <a:t>坐席辅助实时推荐话术+知识弹窗，新人上手周期从14天缩短至3天；</a:t>
            </a:r>
          </a:p>
          <a:p>
            <a:pPr lvl="1">
              <a:defRPr sz="1600"/>
            </a:pPr>
            <a:r>
              <a:t>AI自动归因客户情绪波动，触发主管实时介入，重大投诉下降39%。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我们的三层提效架构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目标：展示可验证、可拆解的技术实施路径</a:t>
            </a:r>
          </a:p>
          <a:p>
            <a:pPr lvl="1">
              <a:defRPr sz="1600"/>
            </a:pPr>
            <a:r>
              <a:t>L1 智能应答层：多轮对话引擎+行业知识图谱，覆盖92%FAQ场景；</a:t>
            </a:r>
          </a:p>
          <a:p>
            <a:pPr lvl="1">
              <a:defRPr sz="1600"/>
            </a:pPr>
            <a:r>
              <a:t>L2 流程自动化层：RPA对接ERP/CRM，自动完成退款审核、物流补发等6类闭环动作；</a:t>
            </a:r>
          </a:p>
          <a:p>
            <a:pPr lvl="1">
              <a:defRPr sz="1600"/>
            </a:pPr>
            <a:r>
              <a:t>L3 决策支持层：基于会话日志的根因分析模型，每月输出服务短板热力图与改进建议。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已验证的提效成果（试点数据）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目标：用真实业务指标建立可信度</a:t>
            </a:r>
          </a:p>
          <a:p>
            <a:pPr lvl="1">
              <a:defRPr sz="1600"/>
            </a:pPr>
            <a:r>
              <a:t>某电商客户：首次响应时间↓82%（210s→38s），人力成本↓29%（等效释放17个全职岗）；</a:t>
            </a:r>
          </a:p>
          <a:p>
            <a:pPr lvl="1">
              <a:defRPr sz="1600"/>
            </a:pPr>
            <a:r>
              <a:t>某金融客户：合规质检覆盖率从3%提升至100%，违规话术识别准确率98.2%；</a:t>
            </a:r>
          </a:p>
          <a:p>
            <a:pPr lvl="1">
              <a:defRPr sz="1600"/>
            </a:pPr>
            <a:r>
              <a:t>综合NPS提升14.6分，重复来电率下降41%——证明体验与效率双增长。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投入产出比（ROI）测算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目标：将技术投入转化为财务语言</a:t>
            </a:r>
          </a:p>
          <a:p>
            <a:pPr lvl="1">
              <a:defRPr sz="1600"/>
            </a:pPr>
            <a:r>
              <a:t>一次性部署成本：¥1,280,000（含定制开发与3个月运维）；</a:t>
            </a:r>
          </a:p>
          <a:p>
            <a:pPr lvl="1">
              <a:defRPr sz="1600"/>
            </a:pPr>
            <a:r>
              <a:t>年度可量化收益：人力节省¥640,000 + 客户流失减少¥320,000 + 合规罚款规避¥180,000 = ¥1,140,000；</a:t>
            </a:r>
          </a:p>
          <a:p>
            <a:pPr lvl="1">
              <a:defRPr sz="1600"/>
            </a:pPr>
            <a:r>
              <a:t>投资回收期：13.2个月，第2年起净增利¥1,140,000/年。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分阶段落地路线图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目标：降低实施焦虑，突出可控性与快速见效</a:t>
            </a:r>
          </a:p>
          <a:p>
            <a:pPr lvl="1">
              <a:defRPr sz="1600"/>
            </a:pPr>
            <a:r>
              <a:t>Phase 1（1-2月）：上线智能应答+知识库迁移，实现FAQ场景100%覆盖；</a:t>
            </a:r>
          </a:p>
          <a:p>
            <a:pPr lvl="1">
              <a:defRPr sz="1600"/>
            </a:pPr>
            <a:r>
              <a:t>Phase 2（3-4月）：接入RPA完成3类高频闭环流程，坐席辅助功能全量启用；</a:t>
            </a:r>
          </a:p>
          <a:p>
            <a:pPr lvl="1">
              <a:defRPr sz="1600"/>
            </a:pPr>
            <a:r>
              <a:t>Phase 3（5-6月）：部署决策看板，建立服务健康度月度复盘机制。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我们需要您的关键决策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目标：推动行动，明确下一步管理动作</a:t>
            </a:r>
          </a:p>
          <a:p>
            <a:pPr lvl="1">
              <a:defRPr sz="1600"/>
            </a:pPr>
            <a:r>
              <a:t>批准试点预算¥1.28M（Q3内启动，确保年底前产生正向ROI）；</a:t>
            </a:r>
          </a:p>
          <a:p>
            <a:pPr lvl="1">
              <a:defRPr sz="1600"/>
            </a:pPr>
            <a:r>
              <a:t>授权跨部门协作小组（客服/IT/法务），每周1小时联合站会；</a:t>
            </a:r>
          </a:p>
          <a:p>
            <a:pPr lvl="1">
              <a:defRPr sz="1600"/>
            </a:pPr>
            <a:r>
              <a:t>指定业务Owner主导知识库共建，确保行业语义100%对齐。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Q&amp;A：常见关切与应对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目标：预判并化解管理层潜在疑虑</a:t>
            </a:r>
          </a:p>
          <a:p>
            <a:pPr lvl="1">
              <a:defRPr sz="1600"/>
            </a:pPr>
            <a:r>
              <a:t>Q：现有系统能否兼容？A：已通过API网关适配主流CRM/ERP，无需替换旧系统；</a:t>
            </a:r>
          </a:p>
          <a:p>
            <a:pPr lvl="1">
              <a:defRPr sz="1600"/>
            </a:pPr>
            <a:r>
              <a:t>Q：员工抵触怎么办？A：设置‘AI协作者’认证体系，绩效挂钩技能升级奖励；</a:t>
            </a:r>
          </a:p>
          <a:p>
            <a:pPr lvl="1">
              <a:defRPr sz="1600"/>
            </a:pPr>
            <a:r>
              <a:t>Q：数据安全如何保障？A：全链路加密+本地化部署选项+等保三级认证支持。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